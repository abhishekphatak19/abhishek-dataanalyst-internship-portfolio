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0CB8C1"/>
            </a:solidFill>
            <a:ln w="25400" cap="flat">
              <a:solidFill>
                <a:srgbClr val="0CB8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CB8C1"/>
              </a:solidFill>
              <a:ln w="9525" cap="flat">
                <a:solidFill>
                  <a:srgbClr val="0CB8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  <c:pt idx="12">
                    <c:v>J'11</c:v>
                  </c:pt>
                  <c:pt idx="13">
                    <c:v>F</c:v>
                  </c:pt>
                  <c:pt idx="14">
                    <c:v>M</c:v>
                  </c:pt>
                  <c:pt idx="15">
                    <c:v>A</c:v>
                  </c:pt>
                  <c:pt idx="16">
                    <c:v>M</c:v>
                  </c:pt>
                  <c:pt idx="17">
                    <c:v>J</c:v>
                  </c:pt>
                  <c:pt idx="18">
                    <c:v>J</c:v>
                  </c:pt>
                  <c:pt idx="19">
                    <c:v>A</c:v>
                  </c:pt>
                  <c:pt idx="20">
                    <c:v>S</c:v>
                  </c:pt>
                  <c:pt idx="21">
                    <c:v>O</c:v>
                  </c:pt>
                  <c:pt idx="22">
                    <c:v>N</c:v>
                  </c:pt>
                  <c:pt idx="23">
                    <c:v>D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57.2</c:v>
                </c:pt>
                <c:pt idx="1">
                  <c:v>48.3</c:v>
                </c:pt>
                <c:pt idx="2">
                  <c:v>62.1</c:v>
                </c:pt>
                <c:pt idx="3">
                  <c:v>55.4</c:v>
                </c:pt>
                <c:pt idx="4">
                  <c:v>70.2</c:v>
                </c:pt>
                <c:pt idx="5">
                  <c:v>82.5</c:v>
                </c:pt>
                <c:pt idx="6">
                  <c:v>75.4</c:v>
                </c:pt>
                <c:pt idx="7">
                  <c:v>89.3</c:v>
                </c:pt>
                <c:pt idx="8">
                  <c:v>108.2</c:v>
                </c:pt>
                <c:pt idx="9">
                  <c:v>132.5</c:v>
                </c:pt>
                <c:pt idx="10">
                  <c:v>210.3</c:v>
                </c:pt>
                <c:pt idx="11">
                  <c:v>189.6</c:v>
                </c:pt>
                <c:pt idx="12">
                  <c:v>120.4</c:v>
                </c:pt>
                <c:pt idx="13">
                  <c:v>95.3</c:v>
                </c:pt>
                <c:pt idx="14">
                  <c:v>115.2</c:v>
                </c:pt>
                <c:pt idx="15">
                  <c:v>108.7</c:v>
                </c:pt>
                <c:pt idx="16">
                  <c:v>125.3</c:v>
                </c:pt>
                <c:pt idx="17">
                  <c:v>148.2</c:v>
                </c:pt>
                <c:pt idx="18">
                  <c:v>136.5</c:v>
                </c:pt>
                <c:pt idx="19">
                  <c:v>152.3</c:v>
                </c:pt>
                <c:pt idx="20">
                  <c:v>178.5</c:v>
                </c:pt>
                <c:pt idx="21">
                  <c:v>202.3</c:v>
                </c:pt>
                <c:pt idx="22">
                  <c:v>288.5</c:v>
                </c:pt>
                <c:pt idx="23">
                  <c:v>154.2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0CB8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B8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B5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B5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B5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UK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EIRE</c:v>
                  </c:pt>
                  <c:pt idx="4">
                    <c:v>Spain</c:v>
                  </c:pt>
                  <c:pt idx="5">
                    <c:v>Netherlands</c:v>
                  </c:pt>
                  <c:pt idx="6">
                    <c:v>Belgium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85.2</c:v>
                </c:pt>
                <c:pt idx="1">
                  <c:v>4.8</c:v>
                </c:pt>
                <c:pt idx="2">
                  <c:v>3.2</c:v>
                </c:pt>
                <c:pt idx="3">
                  <c:v>2.6</c:v>
                </c:pt>
                <c:pt idx="4">
                  <c:v>1.3</c:v>
                </c:pt>
                <c:pt idx="5">
                  <c:v>1</c:v>
                </c:pt>
                <c:pt idx="6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0CB8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B8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CB8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CB8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A8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A8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A7A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A7A8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DOTCOM POSTAGE</c:v>
                  </c:pt>
                  <c:pt idx="1">
                    <c:v>REGENCY CAKESTAND 3T</c:v>
                  </c:pt>
                  <c:pt idx="2">
                    <c:v>WHITE HEART T-LIGHT</c:v>
                  </c:pt>
                  <c:pt idx="3">
                    <c:v>PARTY BUNTING</c:v>
                  </c:pt>
                  <c:pt idx="4">
                    <c:v>JUMBO BAG RETROSPOT</c:v>
                  </c:pt>
                  <c:pt idx="5">
                    <c:v>RABBIT NIGHT LIGHT</c:v>
                  </c:pt>
                  <c:pt idx="6">
                    <c:v>PAPER CRAFT BIRDIE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206.2</c:v>
                </c:pt>
                <c:pt idx="1">
                  <c:v>164.8</c:v>
                </c:pt>
                <c:pt idx="2">
                  <c:v>100.6</c:v>
                </c:pt>
                <c:pt idx="3">
                  <c:v>98.3</c:v>
                </c:pt>
                <c:pt idx="4">
                  <c:v>85.2</c:v>
                </c:pt>
                <c:pt idx="5">
                  <c:v>70</c:v>
                </c:pt>
                <c:pt idx="6">
                  <c:v>67.2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A8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4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A8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A5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(K)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CB8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CB8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CB8C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6A8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48.8</c:v>
                </c:pt>
                <c:pt idx="1">
                  <c:v>54.8</c:v>
                </c:pt>
                <c:pt idx="2">
                  <c:v>56.2</c:v>
                </c:pt>
                <c:pt idx="3">
                  <c:v>59.8</c:v>
                </c:pt>
                <c:pt idx="4">
                  <c:v>46.7</c:v>
                </c:pt>
                <c:pt idx="5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A8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A8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A5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(£)</c:v>
                </c:pt>
              </c:strCache>
            </c:strRef>
          </c:tx>
          <c:spPr>
            <a:solidFill>
              <a:srgbClr val="F5A623"/>
            </a:solidFill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8</c:v>
                  </c:pt>
                  <c:pt idx="7">
                    <c:v>10</c:v>
                  </c:pt>
                  <c:pt idx="8">
                    <c:v>12</c:v>
                  </c:pt>
                  <c:pt idx="9">
                    <c:v>15</c:v>
                  </c:pt>
                  <c:pt idx="10">
                    <c:v>20</c:v>
                  </c:pt>
                  <c:pt idx="11">
                    <c:v>24</c:v>
                  </c:pt>
                  <c:pt idx="12">
                    <c:v>30</c:v>
                  </c:pt>
                  <c:pt idx="13">
                    <c:v>36</c:v>
                  </c:pt>
                  <c:pt idx="14">
                    <c:v>48</c:v>
                  </c:pt>
                  <c:pt idx="15">
                    <c:v>72</c:v>
                  </c:pt>
                  <c:pt idx="16">
                    <c:v>96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2.1</c:v>
                </c:pt>
                <c:pt idx="1">
                  <c:v>4.2</c:v>
                </c:pt>
                <c:pt idx="2">
                  <c:v>6.5</c:v>
                </c:pt>
                <c:pt idx="3">
                  <c:v>8.7</c:v>
                </c:pt>
                <c:pt idx="4">
                  <c:v>11</c:v>
                </c:pt>
                <c:pt idx="5">
                  <c:v>13.4</c:v>
                </c:pt>
                <c:pt idx="6">
                  <c:v>18.2</c:v>
                </c:pt>
                <c:pt idx="7">
                  <c:v>23.1</c:v>
                </c:pt>
                <c:pt idx="8">
                  <c:v>28.4</c:v>
                </c:pt>
                <c:pt idx="9">
                  <c:v>36.2</c:v>
                </c:pt>
                <c:pt idx="10">
                  <c:v>48.8</c:v>
                </c:pt>
                <c:pt idx="11">
                  <c:v>57.9</c:v>
                </c:pt>
                <c:pt idx="12">
                  <c:v>73.2</c:v>
                </c:pt>
                <c:pt idx="13">
                  <c:v>88.5</c:v>
                </c:pt>
                <c:pt idx="14">
                  <c:v>116.4</c:v>
                </c:pt>
                <c:pt idx="15">
                  <c:v>172.3</c:v>
                </c:pt>
                <c:pt idx="16">
                  <c:v>228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A8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A8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A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CB8C1">
              <a:alpha val="12000"/>
            </a:srgbClr>
          </a:solidFill>
          <a:ln w="12700">
            <a:solidFill>
              <a:srgbClr val="0CB8C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474720" cy="3474720"/>
          </a:xfrm>
          <a:prstGeom prst="ellipse">
            <a:avLst/>
          </a:prstGeom>
          <a:solidFill>
            <a:srgbClr val="38D9E0">
              <a:alpha val="18000"/>
            </a:srgbClr>
          </a:solidFill>
          <a:ln w="12700">
            <a:solidFill>
              <a:srgbClr val="38D9E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5A623">
              <a:alpha val="9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2926080" cy="347472"/>
          </a:xfrm>
          <a:prstGeom prst="roundRect">
            <a:avLst>
              <a:gd name="adj" fmla="val 47368"/>
            </a:avLst>
          </a:prstGeom>
          <a:solidFill>
            <a:srgbClr val="0CB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INTERNSHIP PROJECT · TASK 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Business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data story — Wrangling · EDA · Deep-Dive · Statistical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07408"/>
            <a:ext cx="1828800" cy="45720"/>
          </a:xfrm>
          <a:prstGeom prst="rect">
            <a:avLst/>
          </a:prstGeom>
          <a:solidFill>
            <a:srgbClr val="0CB8C1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4407408"/>
            <a:ext cx="6400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Dataset · Dec 2010 – Dec 2011 · 541,909 Transactions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645"/>
          </a:solidFill>
          <a:ln w="12700">
            <a:solidFill>
              <a:srgbClr val="0F26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Journey: 4 Tasks, One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1234440"/>
            <a:ext cx="2011680" cy="3200400"/>
          </a:xfrm>
          <a:prstGeom prst="rect">
            <a:avLst/>
          </a:prstGeom>
          <a:solidFill>
            <a:srgbClr val="E0F7F9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234440"/>
            <a:ext cx="2011680" cy="64008"/>
          </a:xfrm>
          <a:prstGeom prst="rect">
            <a:avLst/>
          </a:prstGeom>
          <a:solidFill>
            <a:srgbClr val="0CB8C1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10896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24505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Transform · Engineer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31136" y="2651760"/>
            <a:ext cx="164592" cy="36576"/>
          </a:xfrm>
          <a:prstGeom prst="rect">
            <a:avLst/>
          </a:prstGeom>
          <a:solidFill>
            <a:srgbClr val="7EA8BE"/>
          </a:solidFill>
          <a:ln w="12700">
            <a:solidFill>
              <a:srgbClr val="7EA8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301752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0CB8C1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3035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Outcome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3328416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541K rows cleaned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14016" y="1234440"/>
            <a:ext cx="2011680" cy="3200400"/>
          </a:xfrm>
          <a:prstGeom prst="rect">
            <a:avLst/>
          </a:prstGeom>
          <a:solidFill>
            <a:srgbClr val="FEF3D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14016" y="123444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71216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23744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23744" y="24505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Visualize · Insight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43984" y="2651760"/>
            <a:ext cx="164592" cy="36576"/>
          </a:xfrm>
          <a:prstGeom prst="rect">
            <a:avLst/>
          </a:prstGeom>
          <a:solidFill>
            <a:srgbClr val="7EA8BE"/>
          </a:solidFill>
          <a:ln w="12700">
            <a:solidFill>
              <a:srgbClr val="7EA8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1176" y="301752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F5A623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51176" y="3035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Outcome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51176" y="3328416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4,338 customers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26864" y="1234440"/>
            <a:ext cx="2011680" cy="320040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1234440"/>
            <a:ext cx="20116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84064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736592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&amp;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36592" y="24505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· Segment · Power BI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56832" y="2651760"/>
            <a:ext cx="164592" cy="36576"/>
          </a:xfrm>
          <a:prstGeom prst="rect">
            <a:avLst/>
          </a:prstGeom>
          <a:solidFill>
            <a:srgbClr val="7EA8BE"/>
          </a:solidFill>
          <a:ln w="12700">
            <a:solidFill>
              <a:srgbClr val="7EA8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64024" y="301752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A78BFA">
              <a:alpha val="9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64024" y="3035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Outcome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64024" y="3328416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5 segments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identified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39712" y="1234440"/>
            <a:ext cx="2011680" cy="3200400"/>
          </a:xfrm>
          <a:prstGeom prst="rect">
            <a:avLst/>
          </a:prstGeom>
          <a:solidFill>
            <a:srgbClr val="D1FAE5"/>
          </a:solidFill>
          <a:ln w="19050">
            <a:solidFill>
              <a:srgbClr val="10C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39712" y="1234440"/>
            <a:ext cx="2011680" cy="64008"/>
          </a:xfrm>
          <a:prstGeom prst="rect">
            <a:avLst/>
          </a:prstGeom>
          <a:solidFill>
            <a:srgbClr val="10C981"/>
          </a:solidFill>
          <a:ln w="12700">
            <a:solidFill>
              <a:srgbClr val="10C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C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96912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949440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&amp; Statistics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9440" y="24505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· Tests · Decisions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76872" y="3017520"/>
            <a:ext cx="1737360" cy="1280160"/>
          </a:xfrm>
          <a:prstGeom prst="roundRect">
            <a:avLst>
              <a:gd name="adj" fmla="val 5714"/>
            </a:avLst>
          </a:prstGeom>
          <a:solidFill>
            <a:srgbClr val="10C981">
              <a:alpha val="9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76872" y="3035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Outcome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76872" y="3328416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 hypotheses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validated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CB8C1">
              <a:alpha val="10000"/>
            </a:srgbClr>
          </a:solidFill>
          <a:ln w="12700">
            <a:solidFill>
              <a:srgbClr val="0CB8C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2286000" cy="347472"/>
          </a:xfrm>
          <a:prstGeom prst="roundRect">
            <a:avLst>
              <a:gd name="adj" fmla="val 47368"/>
            </a:avLst>
          </a:prstGeom>
          <a:solidFill>
            <a:srgbClr val="0CB8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CHAPTER 01 · TASK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insight, the raw data needed to be understood,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and transformed into an analysis-ready asset.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1600200" cy="1645920"/>
          </a:xfrm>
          <a:prstGeom prst="rect">
            <a:avLst/>
          </a:prstGeom>
          <a:solidFill>
            <a:srgbClr val="1A3A5C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2344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540K+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50992" y="2011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8BE"/>
                </a:solidFill>
              </a:rPr>
              <a:t>Raw Rows Loaded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60920" y="1005840"/>
            <a:ext cx="1600200" cy="1645920"/>
          </a:xfrm>
          <a:prstGeom prst="rect">
            <a:avLst/>
          </a:prstGeom>
          <a:solidFill>
            <a:srgbClr val="1A3A5C"/>
          </a:solidFill>
          <a:ln w="19050">
            <a:solidFill>
              <a:srgbClr val="F461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60920" y="12344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92,662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34072" y="2011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8BE"/>
                </a:solidFill>
              </a:rPr>
              <a:t>Missing Customer IDs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2926080"/>
            <a:ext cx="1600200" cy="1645920"/>
          </a:xfrm>
          <a:prstGeom prst="rect">
            <a:avLst/>
          </a:prstGeom>
          <a:solidFill>
            <a:srgbClr val="1A3A5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31546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50992" y="3931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8BE"/>
                </a:solidFill>
              </a:rPr>
              <a:t>Duplicates Removed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60920" y="2926080"/>
            <a:ext cx="1600200" cy="1645920"/>
          </a:xfrm>
          <a:prstGeom prst="rect">
            <a:avLst/>
          </a:prstGeom>
          <a:solidFill>
            <a:srgbClr val="1A3A5C"/>
          </a:solidFill>
          <a:ln w="19050">
            <a:solidFill>
              <a:srgbClr val="10C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31546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C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34072" y="3931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8BE"/>
                </a:solidFill>
              </a:rPr>
              <a:t>Features Engineered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Actions: Column standardisation · Date parsing · Forward-fill imputation · IQR outlier detection · Feature engineering (RFM inputs, total_price, weekday)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645"/>
          </a:solidFill>
          <a:ln w="12700">
            <a:solidFill>
              <a:srgbClr val="0F26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 · EDA: What the Data Says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743200" cy="1417320"/>
          </a:xfrm>
          <a:prstGeom prst="rect">
            <a:avLst/>
          </a:prstGeom>
          <a:solidFill>
            <a:srgbClr val="E0F7F9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C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£9.75M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Dec 2010 – Dec 2011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1417320"/>
          </a:xfrm>
          <a:prstGeom prst="rect">
            <a:avLst/>
          </a:prstGeom>
          <a:solidFill>
            <a:srgbClr val="FEF3D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Invoices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Across 37 countries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743200" cy="141732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£376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722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 invoice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788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645"/>
                </a:solidFill>
              </a:rPr>
              <a:t>📈  Monthly Revenue Trend (£K)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3108960"/>
          <a:ext cx="53035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76072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645"/>
                </a:solidFill>
              </a:rPr>
              <a:t>🌍  Revenue Share by Country (%)</a:t>
            </a:r>
            <a:endParaRPr lang="en-US" sz="12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5760720" y="3108960"/>
          <a:ext cx="31089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 · Product &amp; Behavioural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D9E0"/>
                </a:solidFill>
              </a:rPr>
              <a:t>🏆 Top 7 Products by Revenue (£K)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3716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📅 Orders by Weekday (K)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577840" y="137160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47091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Top 3 products contribute ~55% of revenue  ·  Thursday is peak order day  ·  Sunday sees 5× fewer orders than peak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645"/>
          </a:solidFill>
          <a:ln w="12700">
            <a:solidFill>
              <a:srgbClr val="0F26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RFM Customer Segmentation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0CB8C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430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32688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Days since last purchase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1430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04488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Frequency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04488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# of unique orders placed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430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76288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Monetary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76288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Total spend across lifetime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" y="2103120"/>
            <a:ext cx="1600200" cy="269748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" y="2103120"/>
            <a:ext cx="16002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221284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" y="2834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2,544 customers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" y="31546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Low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" y="3657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Re-engagement campaigns needed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38528" y="2103120"/>
            <a:ext cx="1600200" cy="2697480"/>
          </a:xfrm>
          <a:prstGeom prst="rect">
            <a:avLst/>
          </a:prstGeom>
          <a:solidFill>
            <a:srgbClr val="E0F7F9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38528" y="2103120"/>
            <a:ext cx="1600200" cy="54864"/>
          </a:xfrm>
          <a:prstGeom prst="rect">
            <a:avLst/>
          </a:prstGeom>
          <a:solidFill>
            <a:srgbClr val="0CB8C1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38528" y="221284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938528" y="2834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633 customers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29968" y="31546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Recent Customers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29968" y="3657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Nurture with welcome journeys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12464" y="2103120"/>
            <a:ext cx="1600200" cy="2697480"/>
          </a:xfrm>
          <a:prstGeom prst="rect">
            <a:avLst/>
          </a:prstGeom>
          <a:solidFill>
            <a:srgbClr val="FEF3D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12464" y="2103120"/>
            <a:ext cx="1600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221284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712464" y="2834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498 customers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03904" y="31546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Best Customers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03904" y="3657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VIP rewards &amp; loyalty program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2103120"/>
            <a:ext cx="1600200" cy="269748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0" y="2103120"/>
            <a:ext cx="1600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21284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486400" y="2834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487 customers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31546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Frequent Buyers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3657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Upsell to increase basket size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0336" y="2103120"/>
            <a:ext cx="1600200" cy="2697480"/>
          </a:xfrm>
          <a:prstGeom prst="rect">
            <a:avLst/>
          </a:prstGeom>
          <a:solidFill>
            <a:srgbClr val="D1FAE5"/>
          </a:solidFill>
          <a:ln w="19050">
            <a:solidFill>
              <a:srgbClr val="10C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60336" y="2103120"/>
            <a:ext cx="1600200" cy="54864"/>
          </a:xfrm>
          <a:prstGeom prst="rect">
            <a:avLst/>
          </a:prstGeom>
          <a:solidFill>
            <a:srgbClr val="10C981"/>
          </a:solidFill>
          <a:ln w="12700">
            <a:solidFill>
              <a:srgbClr val="10C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0336" y="221284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C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260336" y="2834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210 customers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51776" y="31546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High Spenders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51776" y="3657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Premium product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Multivariate Analysis: Key Correlation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474720" cy="3657600"/>
          </a:xfrm>
          <a:prstGeom prst="rect">
            <a:avLst/>
          </a:prstGeom>
          <a:solidFill>
            <a:srgbClr val="1A3A5C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B8C1"/>
                </a:solidFill>
              </a:rPr>
              <a:t>Quantity ↔ Revenue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A8BE"/>
                </a:solidFill>
              </a:rPr>
              <a:t>r =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C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D9E0"/>
                </a:solidFill>
              </a:rPr>
              <a:t>Strong Positive Correlation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3840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A8BE"/>
                </a:solidFill>
              </a:rPr>
              <a:t>Higher order quantities directly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EA8BE"/>
                </a:solidFill>
              </a:rPr>
              <a:t>drive proportional revenue gains.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1097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Quantity vs Revenue — grouped averages (£)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0" y="146304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7091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</a:rPr>
              <a:t>📌  Business Implication: Bulk-order promotions &amp; volume discounts will proportionally scale revenue — a reliable lever for growth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645"/>
          </a:solidFill>
          <a:ln w="12700">
            <a:solidFill>
              <a:srgbClr val="0F26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Hypothesis 1: UK vs International Order Values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H₀  (Null):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UK and non-UK customers have equal average order values.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981"/>
                </a:solidFill>
              </a:rPr>
              <a:t>H₁  (Alt):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57276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There is a statistically significant difference in average order value between UK and international customers.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2743200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762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B8C1"/>
                </a:solidFill>
              </a:rPr>
              <a:t>Test Used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(unequal variance)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82112" y="2148840"/>
            <a:ext cx="2743200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F461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9272" y="21762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615C"/>
                </a:solidFill>
              </a:rPr>
              <a:t>T-Statistic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9272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−21.11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9904" y="2148840"/>
            <a:ext cx="2743200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F461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27064" y="21762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615C"/>
                </a:solidFill>
              </a:rPr>
              <a:t>P-Value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27064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 × 10⁻⁹⁸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5196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383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Significance Level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7033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3337560"/>
            <a:ext cx="425196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10C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3383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C981"/>
                </a:solidFill>
              </a:rPr>
              <a:t>Decision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7033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4434840"/>
            <a:ext cx="9144000" cy="704088"/>
          </a:xfrm>
          <a:prstGeom prst="rect">
            <a:avLst/>
          </a:prstGeom>
          <a:solidFill>
            <a:srgbClr val="10C981">
              <a:alpha val="12000"/>
            </a:srgbClr>
          </a:solidFill>
          <a:ln w="12700">
            <a:solidFill>
              <a:srgbClr val="10C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46227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Business Conclusion: International customers place significantly higher-value orders. Prioritise EU market expansion with targeted campaigns for Germany, France, and EIRE.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Hypotheses 2 &amp; 3: Time &amp; Quantity Tests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1A3A5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Hypothesis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A8BE"/>
                </a:solidFill>
              </a:rPr>
              <a:t>Weekend vs Weekday Order Values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3749040" cy="62179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84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A8BE"/>
                </a:solidFill>
              </a:rPr>
              <a:t>Welch's T-Test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2807208"/>
            <a:ext cx="3749040" cy="62179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A8BE"/>
                </a:solidFill>
              </a:rPr>
              <a:t>P-Value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× 10⁻¹⁹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3557016"/>
            <a:ext cx="3749040" cy="62179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84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A8BE"/>
                </a:solidFill>
              </a:rPr>
              <a:t>Result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4251960"/>
            <a:ext cx="4160520" cy="56692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79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</a:rPr>
              <a:t>📌  Weekend orders differ significantly from weekday. Launch weekend-exclusive flash sales to capture high-intent shoppers.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1A3A5C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41605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Hypothesis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A8BE"/>
                </a:solidFill>
              </a:rPr>
              <a:t>Quantity–Revenue Linear Correlation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057400"/>
            <a:ext cx="3749040" cy="62179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084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A8BE"/>
                </a:solidFill>
              </a:rPr>
              <a:t>Pearson Correlation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2340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2807208"/>
            <a:ext cx="3749040" cy="62179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A8BE"/>
                </a:solidFill>
              </a:rPr>
              <a:t>r value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3557016"/>
            <a:ext cx="3749040" cy="62179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A8BE"/>
                </a:solidFill>
              </a:rPr>
              <a:t>Chi² Country Test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09160" y="4251960"/>
            <a:ext cx="4160520" cy="566928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279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📌  Quantity is a strong revenue predictor. Country significantly affects sales patterns — localised pricing strategy is justified.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645"/>
          </a:solidFill>
          <a:ln w="12700">
            <a:solidFill>
              <a:srgbClr val="0F26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Story: Connecting All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804672"/>
          </a:xfrm>
          <a:prstGeom prst="rect">
            <a:avLst/>
          </a:prstGeom>
          <a:solidFill>
            <a:srgbClr val="E0F7F9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34440"/>
            <a:ext cx="64008" cy="804672"/>
          </a:xfrm>
          <a:prstGeom prst="rect">
            <a:avLst/>
          </a:prstGeom>
          <a:solidFill>
            <a:srgbClr val="0CB8C1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710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The Foundation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23160" y="1271016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541,909 messy transactions. After removing 2,657 duplicates and imputing 92K+ missing customer IDs, we built a clean 11-feature dataset — the bedrock of every insight that followed.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2167128"/>
            <a:ext cx="8686800" cy="804672"/>
          </a:xfrm>
          <a:prstGeom prst="rect">
            <a:avLst/>
          </a:prstGeom>
          <a:solidFill>
            <a:srgbClr val="FEF3D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167128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037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The Discovery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220370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a £9.75M business driven overwhelmingly by the UK (85%). Revenue spikes in Q4 suggested seasonal demand. Thursday is peak shopping day; Sunday nearly dead.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3099816"/>
            <a:ext cx="8686800" cy="804672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099816"/>
            <a:ext cx="64008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363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The Segmentation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3136392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uncovered 5 customer segments. 498 'Best Customers' (11%) likely drive disproportionate revenue. 2,544 low-value customers need re-engagement strategy.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4032504"/>
            <a:ext cx="8686800" cy="804672"/>
          </a:xfrm>
          <a:prstGeom prst="rect">
            <a:avLst/>
          </a:prstGeom>
          <a:solidFill>
            <a:srgbClr val="D1FAE5"/>
          </a:solidFill>
          <a:ln w="19050">
            <a:solidFill>
              <a:srgbClr val="10C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4032504"/>
            <a:ext cx="64008" cy="804672"/>
          </a:xfrm>
          <a:prstGeom prst="rect">
            <a:avLst/>
          </a:prstGeom>
          <a:solidFill>
            <a:srgbClr val="10C981"/>
          </a:solidFill>
          <a:ln w="12700">
            <a:solidFill>
              <a:srgbClr val="10C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69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C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The Proof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23160" y="4069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validated 3 business hypotheses at p &lt; 0.05. International customers spend more per order. Weekend behaviour is distinct. Quantity and revenue are strongly correlated (r=0.81).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709160"/>
            <a:ext cx="8686800" cy="365760"/>
          </a:xfrm>
          <a:prstGeom prst="rect">
            <a:avLst/>
          </a:prstGeom>
          <a:solidFill>
            <a:srgbClr val="0F2645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2744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Call to Action: Expand EU markets · Activate VIP loyalty programme · Launch Thursday &amp; weekend promos · Scale bulk-order incentives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CB8C1">
              <a:alpha val="10000"/>
            </a:srgbClr>
          </a:solidFill>
          <a:ln w="12700">
            <a:solidFill>
              <a:srgbClr val="0CB8C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Scorecard — All Tasks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2011680" cy="3657600"/>
          </a:xfrm>
          <a:prstGeom prst="rect">
            <a:avLst/>
          </a:prstGeom>
          <a:solidFill>
            <a:srgbClr val="1A3A5C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97280"/>
            <a:ext cx="2011680" cy="64008"/>
          </a:xfrm>
          <a:prstGeom prst="rect">
            <a:avLst/>
          </a:prstGeom>
          <a:solidFill>
            <a:srgbClr val="0CB8C1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207008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0CB8C1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B8C1"/>
                </a:solidFill>
              </a:rPr>
              <a:t>Task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1627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" y="219456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21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540K rows → clean dataset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" y="283464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620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11 features engineered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" y="347472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0215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Outliers detected (IQR)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14016" y="1097280"/>
            <a:ext cx="2011680" cy="3657600"/>
          </a:xfrm>
          <a:prstGeom prst="rect">
            <a:avLst/>
          </a:prstGeom>
          <a:solidFill>
            <a:srgbClr val="1A3A5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14016" y="109728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1176" y="1207008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F5A623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551176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Task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23744" y="1627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BI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23744" y="219456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2221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£9.75M revenue analysed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23744" y="283464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28620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Monthly trend charted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23744" y="347472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350215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Top products &amp; regions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1097280"/>
            <a:ext cx="2011680" cy="3657600"/>
          </a:xfrm>
          <a:prstGeom prst="rect">
            <a:avLst/>
          </a:prstGeom>
          <a:solidFill>
            <a:srgbClr val="1A3A5C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1097280"/>
            <a:ext cx="20116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64024" y="1207008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A78BFA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64024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Task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1627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&amp; BI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36592" y="219456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2221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5 RFM segments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283464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8620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Best Customers = 11%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36592" y="347472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50215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Power BI dashboard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39712" y="1097280"/>
            <a:ext cx="2011680" cy="3657600"/>
          </a:xfrm>
          <a:prstGeom prst="rect">
            <a:avLst/>
          </a:prstGeom>
          <a:solidFill>
            <a:srgbClr val="1A3A5C"/>
          </a:solidFill>
          <a:ln w="19050">
            <a:solidFill>
              <a:srgbClr val="10C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39712" y="1097280"/>
            <a:ext cx="2011680" cy="64008"/>
          </a:xfrm>
          <a:prstGeom prst="rect">
            <a:avLst/>
          </a:prstGeom>
          <a:solidFill>
            <a:srgbClr val="10C981"/>
          </a:solidFill>
          <a:ln w="12700">
            <a:solidFill>
              <a:srgbClr val="10C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76872" y="1207008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10C981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976872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C981"/>
                </a:solidFill>
              </a:rPr>
              <a:t>Task 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1627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Story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49440" y="219456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04304" y="222199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3 hypotheses tested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49440" y="283464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04304" y="28620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All p &lt; 0.05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49440" y="3474720"/>
            <a:ext cx="1828800" cy="530352"/>
          </a:xfrm>
          <a:prstGeom prst="rect">
            <a:avLst/>
          </a:prstGeom>
          <a:solidFill>
            <a:srgbClr val="1E3D5E"/>
          </a:solidFill>
          <a:ln w="12700">
            <a:solidFill>
              <a:srgbClr val="2A45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04304" y="350215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BE"/>
                </a:solidFill>
              </a:rPr>
              <a:t>✓  r = 0.81 correlation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645"/>
          </a:solidFill>
          <a:ln w="12700">
            <a:solidFill>
              <a:srgbClr val="0F26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297680" cy="1078992"/>
          </a:xfrm>
          <a:prstGeom prst="rect">
            <a:avLst/>
          </a:prstGeom>
          <a:solidFill>
            <a:srgbClr val="FEE2E2"/>
          </a:solidFill>
          <a:ln w="19050">
            <a:solidFill>
              <a:srgbClr val="F461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F4615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76472" y="128016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F4615C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776472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615C"/>
                </a:solidFill>
              </a:rPr>
              <a:t>HIGH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9264" y="1261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EU Markets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Germany, France &amp; EIRE show high AOV per statistical test. A localised website/checkout experience could unlock significant revenue growth.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450592"/>
            <a:ext cx="4297680" cy="1078992"/>
          </a:xfrm>
          <a:prstGeom prst="rect">
            <a:avLst/>
          </a:prstGeom>
          <a:solidFill>
            <a:srgbClr val="FEF3DC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23744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76472" y="2542032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F5A623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776472" y="25420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HIGH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9264" y="25237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VIP Loyalty Programme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980944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498 'Best Customers' (RFM 444) represent a disproportionate revenue share. A tiered loyalty scheme will maximise retention.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712464"/>
            <a:ext cx="4297680" cy="1078992"/>
          </a:xfrm>
          <a:prstGeom prst="rect">
            <a:avLst/>
          </a:prstGeom>
          <a:solidFill>
            <a:srgbClr val="E0F7F9"/>
          </a:solidFill>
          <a:ln w="19050">
            <a:solidFill>
              <a:srgbClr val="0CB8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85616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0CB8C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76472" y="3803904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0CB8C1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776472" y="38039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B8C1"/>
                </a:solidFill>
              </a:rPr>
              <a:t>MED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9264" y="37856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Promotional Calendar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24281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Thursday is peak day; Q4 shows major seasonal spike. Schedule promotions and inventory replenishment ahead of these windows.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9744" y="1188720"/>
            <a:ext cx="4297680" cy="1078992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9472" y="1261872"/>
            <a:ext cx="502920" cy="502920"/>
          </a:xfrm>
          <a:prstGeom prst="roundRect">
            <a:avLst>
              <a:gd name="adj" fmla="val 45455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30184" y="128016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A78BFA">
              <a:alpha val="9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30184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MED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22976" y="1261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Low-Value Segment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171907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2,544 customers (58%) are classified low-value. Automated email re-engagement flows with personalised offers could convert even 10% into active buyers.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4526280"/>
            <a:ext cx="8631936" cy="274320"/>
          </a:xfrm>
          <a:prstGeom prst="rect">
            <a:avLst/>
          </a:prstGeom>
          <a:solidFill>
            <a:srgbClr val="D1FAE5"/>
          </a:solidFill>
          <a:ln w="19050">
            <a:solidFill>
              <a:srgbClr val="10C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4572000"/>
            <a:ext cx="8631936" cy="411480"/>
          </a:xfrm>
          <a:prstGeom prst="rect">
            <a:avLst/>
          </a:prstGeom>
          <a:solidFill>
            <a:srgbClr val="D1FAE5"/>
          </a:solidFill>
          <a:ln w="19050">
            <a:solidFill>
              <a:srgbClr val="10C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994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4E2E"/>
                </a:solidFill>
              </a:rPr>
              <a:t>05  Bulk-Order Incentives · r = 0.81 confirms volume discounts will directly scale top-line revenue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828800"/>
            <a:ext cx="6400800" cy="6400800"/>
          </a:xfrm>
          <a:prstGeom prst="ellipse">
            <a:avLst/>
          </a:prstGeom>
          <a:solidFill>
            <a:srgbClr val="0CB8C1">
              <a:alpha val="11000"/>
            </a:srgbClr>
          </a:solidFill>
          <a:ln w="12700">
            <a:solidFill>
              <a:srgbClr val="0CB8C1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926080"/>
            <a:ext cx="4572000" cy="4572000"/>
          </a:xfrm>
          <a:prstGeom prst="ellipse">
            <a:avLst/>
          </a:prstGeom>
          <a:solidFill>
            <a:srgbClr val="F5A623">
              <a:alpha val="9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2560320" cy="54864"/>
          </a:xfrm>
          <a:prstGeom prst="rect">
            <a:avLst/>
          </a:prstGeom>
          <a:solidFill>
            <a:srgbClr val="0CB8C1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7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— Tasks 1 through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Analytics · Data Storytelling &amp; Statistical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1572768" cy="384048"/>
          </a:xfrm>
          <a:prstGeom prst="roundRect">
            <a:avLst>
              <a:gd name="adj" fmla="val 42857"/>
            </a:avLst>
          </a:prstGeom>
          <a:solidFill>
            <a:srgbClr val="1A3A5C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D9E0"/>
                </a:solidFill>
              </a:rPr>
              <a:t>Data Wrangling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4114800"/>
            <a:ext cx="1572768" cy="384048"/>
          </a:xfrm>
          <a:prstGeom prst="roundRect">
            <a:avLst>
              <a:gd name="adj" fmla="val 42857"/>
            </a:avLst>
          </a:prstGeom>
          <a:solidFill>
            <a:srgbClr val="1A3A5C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4114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D9E0"/>
                </a:solidFill>
              </a:rPr>
              <a:t>EDA &amp; BI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4114800"/>
            <a:ext cx="1572768" cy="384048"/>
          </a:xfrm>
          <a:prstGeom prst="roundRect">
            <a:avLst>
              <a:gd name="adj" fmla="val 42857"/>
            </a:avLst>
          </a:prstGeom>
          <a:solidFill>
            <a:srgbClr val="1A3A5C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4114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D9E0"/>
                </a:solidFill>
              </a:rPr>
              <a:t>RFM Segmentation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4114800"/>
            <a:ext cx="1572768" cy="384048"/>
          </a:xfrm>
          <a:prstGeom prst="roundRect">
            <a:avLst>
              <a:gd name="adj" fmla="val 42857"/>
            </a:avLst>
          </a:prstGeom>
          <a:solidFill>
            <a:srgbClr val="1A3A5C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114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D9E0"/>
                </a:solidFill>
              </a:rPr>
              <a:t>Hypothesis Testing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23760" y="4114800"/>
            <a:ext cx="1572768" cy="384048"/>
          </a:xfrm>
          <a:prstGeom prst="roundRect">
            <a:avLst>
              <a:gd name="adj" fmla="val 42857"/>
            </a:avLst>
          </a:prstGeom>
          <a:solidFill>
            <a:srgbClr val="1A3A5C"/>
          </a:solidFill>
          <a:ln w="12700">
            <a:solidFill>
              <a:srgbClr val="0CB8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114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D9E0"/>
                </a:solidFill>
              </a:rPr>
              <a:t>Storytelling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4560"/>
                </a:solidFill>
              </a:rPr>
              <a:t>Dataset: Online Retail (UCI) · Dec 2010 – Dec 2011 · 541,909 rows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Story: Online Retail Analytics — Tasks 1–4</dc:title>
  <dc:subject>PptxGenJS Presentation</dc:subject>
  <dc:creator>PptxGenJS</dc:creator>
  <cp:lastModifiedBy>PptxGenJS</cp:lastModifiedBy>
  <cp:revision>1</cp:revision>
  <dcterms:created xsi:type="dcterms:W3CDTF">2026-05-01T10:44:01Z</dcterms:created>
  <dcterms:modified xsi:type="dcterms:W3CDTF">2026-05-01T10:44:01Z</dcterms:modified>
</cp:coreProperties>
</file>