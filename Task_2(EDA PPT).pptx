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Revenue ($)</c:v>
                </c:pt>
              </c:strCache>
            </c:strRef>
          </c:tx>
          <c:spPr>
            <a:solidFill>
              <a:srgbClr val="0EA5E9"/>
            </a:solidFill>
            <a:ln w="3175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18500</c:v>
                </c:pt>
                <c:pt idx="1">
                  <c:v>20200</c:v>
                </c:pt>
                <c:pt idx="2">
                  <c:v>22800</c:v>
                </c:pt>
                <c:pt idx="3">
                  <c:v>21400</c:v>
                </c:pt>
                <c:pt idx="4">
                  <c:v>24100</c:v>
                </c:pt>
                <c:pt idx="5">
                  <c:v>26800</c:v>
                </c:pt>
                <c:pt idx="6">
                  <c:v>25300</c:v>
                </c:pt>
                <c:pt idx="7">
                  <c:v>27900</c:v>
                </c:pt>
                <c:pt idx="8">
                  <c:v>29200</c:v>
                </c:pt>
                <c:pt idx="9">
                  <c:v>32100</c:v>
                </c:pt>
                <c:pt idx="10">
                  <c:v>38500</c:v>
                </c:pt>
                <c:pt idx="11">
                  <c:v>41200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 Revenue ($)</c:v>
                </c:pt>
              </c:strCache>
            </c:strRef>
          </c:tx>
          <c:spPr>
            <a:solidFill>
              <a:srgbClr val="CBD5E1"/>
            </a:solidFill>
            <a:ln w="3175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14200</c:v>
                </c:pt>
                <c:pt idx="1">
                  <c:v>15800</c:v>
                </c:pt>
                <c:pt idx="2">
                  <c:v>16900</c:v>
                </c:pt>
                <c:pt idx="3">
                  <c:v>16100</c:v>
                </c:pt>
                <c:pt idx="4">
                  <c:v>18300</c:v>
                </c:pt>
                <c:pt idx="5">
                  <c:v>20500</c:v>
                </c:pt>
                <c:pt idx="6">
                  <c:v>19800</c:v>
                </c:pt>
                <c:pt idx="7">
                  <c:v>21200</c:v>
                </c:pt>
                <c:pt idx="8">
                  <c:v>22800</c:v>
                </c:pt>
                <c:pt idx="9">
                  <c:v>24700</c:v>
                </c:pt>
                <c:pt idx="10">
                  <c:v>30100</c:v>
                </c:pt>
                <c:pt idx="11">
                  <c:v>33400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United Kingdom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EIRE</c:v>
                  </c:pt>
                  <c:pt idx="4">
                    <c:v>Spain</c:v>
                  </c:pt>
                  <c:pt idx="5">
                    <c:v>Netherlands</c:v>
                  </c:pt>
                  <c:pt idx="6">
                    <c:v>Belgium</c:v>
                  </c:pt>
                  <c:pt idx="7">
                    <c:v>Switzerland</c:v>
                  </c:pt>
                  <c:pt idx="8">
                    <c:v>Portugal</c:v>
                  </c:pt>
                  <c:pt idx="9">
                    <c:v>Australia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1744</c:v>
                </c:pt>
                <c:pt idx="1">
                  <c:v>142</c:v>
                </c:pt>
                <c:pt idx="2">
                  <c:v>110</c:v>
                </c:pt>
                <c:pt idx="3">
                  <c:v>86</c:v>
                </c:pt>
                <c:pt idx="4">
                  <c:v>65</c:v>
                </c:pt>
                <c:pt idx="5">
                  <c:v>48</c:v>
                </c:pt>
                <c:pt idx="6">
                  <c:v>40</c:v>
                </c:pt>
                <c:pt idx="7">
                  <c:v>38</c:v>
                </c:pt>
                <c:pt idx="8">
                  <c:v>33</c:v>
                </c:pt>
                <c:pt idx="9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DOTCOM POSTAGE</c:v>
                  </c:pt>
                  <c:pt idx="1">
                    <c:v>REGENCY CAKESTAND 3 TIER</c:v>
                  </c:pt>
                  <c:pt idx="2">
                    <c:v>WHITE HANGING HEART T-LIGHT HOLDER</c:v>
                  </c:pt>
                  <c:pt idx="3">
                    <c:v>PARTY BUNTING</c:v>
                  </c:pt>
                  <c:pt idx="4">
                    <c:v>JUMBO BAG RED RETROSPOT</c:v>
                  </c:pt>
                  <c:pt idx="5">
                    <c:v>RABBIT NIGHT LIGHT</c:v>
                  </c:pt>
                  <c:pt idx="6">
                    <c:v>PAPER CRAFT LITTLE BIRDIE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206246</c:v>
                </c:pt>
                <c:pt idx="1">
                  <c:v>164762</c:v>
                </c:pt>
                <c:pt idx="2">
                  <c:v>100603</c:v>
                </c:pt>
                <c:pt idx="3">
                  <c:v>98302</c:v>
                </c:pt>
                <c:pt idx="4">
                  <c:v>85220</c:v>
                </c:pt>
                <c:pt idx="5">
                  <c:v>70001</c:v>
                </c:pt>
                <c:pt idx="6">
                  <c:v>67236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Sunday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48750</c:v>
                </c:pt>
                <c:pt idx="1">
                  <c:v>54820</c:v>
                </c:pt>
                <c:pt idx="2">
                  <c:v>56210</c:v>
                </c:pt>
                <c:pt idx="3">
                  <c:v>59840</c:v>
                </c:pt>
                <c:pt idx="4">
                  <c:v>46730</c:v>
                </c:pt>
                <c:pt idx="5">
                  <c:v>12450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TASK 2 — EDA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Business Intelligence  ·  Key Metrics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6459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931920"/>
            <a:ext cx="5486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Deliverable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502920" cy="502920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interpret key summary statistics for numerical and categorical fields.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150876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17320"/>
            <a:ext cx="502920" cy="50292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Queries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execute SQL queries to answer specific business questions using aggregation &amp; joins.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14800" cy="15087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08960"/>
            <a:ext cx="502920" cy="502920"/>
          </a:xfrm>
          <a:prstGeom prst="ellipse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relationships between variables using scatter plots, heatmaps, and pair plots.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114800" cy="150876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08960"/>
            <a:ext cx="502920" cy="502920"/>
          </a:xfrm>
          <a:prstGeom prst="ellipse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Mock-up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static layout proposing the most important KPIs and visual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201168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88720"/>
            <a:ext cx="20116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26974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 over time — monthly and yearly growth patterns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1188720"/>
            <a:ext cx="201168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18872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87168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05456" y="26974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when and how customers shop — weekday patterns &amp; order frequency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188720"/>
            <a:ext cx="201168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188720"/>
            <a:ext cx="201168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00016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6974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 driving the majority of 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21424" y="1188720"/>
            <a:ext cx="201168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188720"/>
            <a:ext cx="201168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912864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1152" y="26974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high-value markets and geographic revenue concentration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88720"/>
            <a:ext cx="1965960" cy="26517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2724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0EA5E9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+18% YoY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1188720"/>
            <a:ext cx="1965960" cy="265176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41448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📦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41448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41448" y="2724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61488" y="32461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61488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+12% YoY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54296" y="1188720"/>
            <a:ext cx="1965960" cy="2651760"/>
          </a:xfrm>
          <a:prstGeom prst="rect">
            <a:avLst/>
          </a:prstGeom>
          <a:solidFill>
            <a:srgbClr val="F5F3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54296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👥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54296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54296" y="2724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74336" y="32461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A78BFA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74336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+9% YoY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67144" y="1188720"/>
            <a:ext cx="1965960" cy="2651760"/>
          </a:xfrm>
          <a:prstGeom prst="rect">
            <a:avLst/>
          </a:prstGeom>
          <a:solidFill>
            <a:srgbClr val="FFFBE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67144" y="1280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🛒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867144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67144" y="2724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87184" y="32461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87184" y="3246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+5% YoY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Sample figures derived from EDA dataset for illustrative purposes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28016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280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📈 Revenue growing YoY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196596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965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📅 Q4 seasonal spike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2651760"/>
            <a:ext cx="2057400" cy="502920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651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⚡ MoM acceleration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74320" y="114300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234440"/>
            <a:ext cx="278892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2618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UK dominates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63640" y="15910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of total revenue from United Kingdom alone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2468880"/>
            <a:ext cx="278892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24963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EU Markets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3640" y="28254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Germany, France &amp; EIRE are the next growth frontiers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3703320"/>
            <a:ext cx="278892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373075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Long Tail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405993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remaining countries contribute &lt;15% combined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Top 7 products by revenue contribution  ·  Focus marketing resources on high-performers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Activity by Weekday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280160"/>
            <a:ext cx="26974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55080" y="13075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Peak 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2514600"/>
            <a:ext cx="26974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25420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Slowest Day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28803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0" y="3749040"/>
            <a:ext cx="269748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55080" y="37764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Best for Promos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4114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Wed–Thu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Layout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05840"/>
            <a:ext cx="201168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95728" y="1005840"/>
            <a:ext cx="201168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95728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08576" y="1005840"/>
            <a:ext cx="201168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8576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21424" y="1005840"/>
            <a:ext cx="201168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21424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AOV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" y="1673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🟦 KPI Cards Row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1965960"/>
            <a:ext cx="877824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" y="196596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Sales Trend — Line Chart (Full Width)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" y="2880360"/>
            <a:ext cx="429768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" y="28803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Products — Bar Chart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297680" cy="868680"/>
          </a:xfrm>
          <a:prstGeom prst="rect">
            <a:avLst/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8803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Revenue by Country — Bar Chart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3840480"/>
            <a:ext cx="877824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Orders by Weekday — Column Chart (Full Width)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42519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42519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heavily concentrated — top 3 products account for nearly 40% of total sales, creating both opportunity and risk.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519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4251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98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drives ~85% of all revenue. European markets (DE, FR, EIRE) represent the highest growth potential.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42519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017520"/>
            <a:ext cx="4251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272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show consistent year-over-year growth with a clear Q4 seasonal spike, ideal for targeted holiday campaigns.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2519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17520"/>
            <a:ext cx="42519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272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is the peak order day. Promotions and flash sales should be scheduled mid-week for maximum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859536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07008"/>
            <a:ext cx="6400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🗜️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consolidates hundreds of thousands of rows of transactional data into a clean, actionable single-view.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8595360" cy="100584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395728"/>
            <a:ext cx="6400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Quick Understanding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KPIs and charts allow stakeholders to immediately identify what's working and where attention is needed.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8595360" cy="1005840"/>
          </a:xfrm>
          <a:prstGeom prst="rect">
            <a:avLst/>
          </a:prstGeom>
          <a:solidFill>
            <a:srgbClr val="FFFBEB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584448"/>
            <a:ext cx="6400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9728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Data-Driven Decisions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seasonal campaigns to regional expansion, every recommendation is grounded in actual data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743200"/>
            <a:ext cx="4572000" cy="45720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286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1554480" cy="384048"/>
          </a:xfrm>
          <a:prstGeom prst="roundRect">
            <a:avLst>
              <a:gd name="adj" fmla="val 4285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EDA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3474720"/>
            <a:ext cx="1554480" cy="384048"/>
          </a:xfrm>
          <a:prstGeom prst="roundRect">
            <a:avLst>
              <a:gd name="adj" fmla="val 4285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95344" y="3474720"/>
            <a:ext cx="1554480" cy="384048"/>
          </a:xfrm>
          <a:prstGeom prst="roundRect">
            <a:avLst>
              <a:gd name="adj" fmla="val 4285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Business Intelligence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14416" y="3474720"/>
            <a:ext cx="1554480" cy="384048"/>
          </a:xfrm>
          <a:prstGeom prst="roundRect">
            <a:avLst>
              <a:gd name="adj" fmla="val 4285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Dashboarding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33488" y="3474720"/>
            <a:ext cx="1554480" cy="384048"/>
          </a:xfrm>
          <a:prstGeom prst="roundRect">
            <a:avLst>
              <a:gd name="adj" fmla="val 4285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Task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· Task 2 · EDA &amp; Business Intelligence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Static Dashboard Mock-up</dc:title>
  <dc:subject>PptxGenJS Presentation</dc:subject>
  <dc:creator>PptxGenJS</dc:creator>
  <cp:lastModifiedBy>PptxGenJS</cp:lastModifiedBy>
  <cp:revision>1</cp:revision>
  <dcterms:created xsi:type="dcterms:W3CDTF">2026-05-01T10:19:17Z</dcterms:created>
  <dcterms:modified xsi:type="dcterms:W3CDTF">2026-05-01T10:19:17Z</dcterms:modified>
</cp:coreProperties>
</file>